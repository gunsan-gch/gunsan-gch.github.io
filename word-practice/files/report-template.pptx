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 보고 대본: 팀장님, 자급제 폰 시장 자료 보고드립니다. 결론부터 말씀드리면 (결론). 근거는 두 가지입니다. 첫째, 자급제 사용자가 (숫자)에서 (숫자)십만 대로 늘었습니다. 둘째, 비중이 (숫자)%에서 (숫자)%로 커졌습니다. 이상입니다.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자급제 폰 시장 보고</a:t>
            </a:r>
            <a:endParaRPr lang="ko-KR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13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defRPr>
            </a:lvl1pPr>
          </a:lstStyle>
          <a:p>
            <a:pPr indent="0" marL="0">
              <a:buNone/>
            </a:pPr>
            <a:r>
              <a:rPr lang="ko-KR" altLang="en-US" sz="13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1-2반 ○번 이름 · 2026. 10. 27.</a:t>
            </a:r>
            <a:endParaRPr lang="ko-KR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자급제 폰 시장 보고</a:t>
            </a:r>
            <a:endParaRPr lang="ko-KR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1-2반 ○번 이름 · 2026. 10. 27.</a:t>
            </a:r>
            <a:endParaRPr lang="ko-KR" sz="1300" dirty="0"/>
          </a:p>
        </p:txBody>
      </p:sp>
      <p:sp>
        <p:nvSpPr>
          <p:cNvPr id="4" name="차트 붙여넣기 칸"/>
          <p:cNvSpPr/>
          <p:nvPr/>
        </p:nvSpPr>
        <p:spPr>
          <a:xfrm>
            <a:off x="457200" y="1325880"/>
            <a:ext cx="42062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5" name="안내 (붙여넣은 뒤 지우기)"/>
          <p:cNvSpPr txBox="1"/>
          <p:nvPr/>
        </p:nvSpPr>
        <p:spPr>
          <a:xfrm>
            <a:off x="548640" y="2240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여기에 한글 차트 붙여넣기</a:t>
            </a:r>
            <a:endParaRPr lang="ko-KR" sz="1600" dirty="0"/>
          </a:p>
          <a:p>
            <a:pPr algn="ctr" indent="0" marL="0">
              <a:buNone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차트 클릭 → Ctrl+C → 이 칸 클릭 → Ctrl+V</a:t>
            </a:r>
            <a:endParaRPr lang="ko-KR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핵심 숫자 3줄</a:t>
            </a:r>
            <a:endParaRPr lang="ko-KR" sz="1500" dirty="0"/>
          </a:p>
        </p:txBody>
      </p:sp>
      <p:sp>
        <p:nvSpPr>
          <p:cNvPr id="7" name="번호 1"/>
          <p:cNvSpPr/>
          <p:nvPr/>
        </p:nvSpPr>
        <p:spPr>
          <a:xfrm>
            <a:off x="4937760" y="19019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1</a:t>
            </a:r>
            <a:endParaRPr lang="ko-KR" sz="1400" dirty="0"/>
          </a:p>
        </p:txBody>
      </p:sp>
      <p:sp>
        <p:nvSpPr>
          <p:cNvPr id="9" name="핵심 1"/>
          <p:cNvSpPr txBox="1"/>
          <p:nvPr/>
        </p:nvSpPr>
        <p:spPr>
          <a:xfrm>
            <a:off x="5440680" y="181051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자급제 사용자 ___ → ___ 십만 대</a:t>
            </a:r>
            <a:endParaRPr lang="ko-KR" sz="1400" dirty="0"/>
          </a:p>
        </p:txBody>
      </p:sp>
      <p:sp>
        <p:nvSpPr>
          <p:cNvPr id="10" name="번호 2"/>
          <p:cNvSpPr/>
          <p:nvPr/>
        </p:nvSpPr>
        <p:spPr>
          <a:xfrm>
            <a:off x="4937760" y="26517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2</a:t>
            </a:r>
            <a:endParaRPr lang="ko-KR" sz="1400" dirty="0"/>
          </a:p>
        </p:txBody>
      </p:sp>
      <p:sp>
        <p:nvSpPr>
          <p:cNvPr id="12" name="핵심 2"/>
          <p:cNvSpPr txBox="1"/>
          <p:nvPr/>
        </p:nvSpPr>
        <p:spPr>
          <a:xfrm>
            <a:off x="5440680" y="25603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자급제 비중 ___% → ___%</a:t>
            </a:r>
            <a:endParaRPr lang="ko-KR" sz="1400" dirty="0"/>
          </a:p>
        </p:txBody>
      </p:sp>
      <p:sp>
        <p:nvSpPr>
          <p:cNvPr id="13" name="번호 3"/>
          <p:cNvSpPr/>
          <p:nvPr/>
        </p:nvSpPr>
        <p:spPr>
          <a:xfrm>
            <a:off x="4937760" y="34015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3</a:t>
            </a:r>
            <a:endParaRPr lang="ko-KR" sz="1400" dirty="0"/>
          </a:p>
        </p:txBody>
      </p:sp>
      <p:sp>
        <p:nvSpPr>
          <p:cNvPr id="15" name="핵심 3"/>
          <p:cNvSpPr txBox="1"/>
          <p:nvPr/>
        </p:nvSpPr>
        <p:spPr>
          <a:xfrm>
            <a:off x="5440680" y="33101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전체 가입자 ___ → ___ 십만 대</a:t>
            </a:r>
            <a:endParaRPr lang="ko-KR" sz="1400" dirty="0"/>
          </a:p>
        </p:txBody>
      </p:sp>
      <p:sp>
        <p:nvSpPr>
          <p:cNvPr id="16" name="결론 칸"/>
          <p:cNvSpPr/>
          <p:nvPr/>
        </p:nvSpPr>
        <p:spPr>
          <a:xfrm>
            <a:off x="457200" y="425196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결론"/>
          <p:cNvSpPr txBox="1"/>
          <p:nvPr/>
        </p:nvSpPr>
        <p:spPr>
          <a:xfrm>
            <a:off x="640080" y="4251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결론  </a:t>
            </a:r>
            <a:pPr indent="0" marL="0">
              <a:buNone/>
            </a:pPr>
            <a:r>
              <a:rPr lang="ko-KR" alt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7"/>
                <a:cs typeface="맑은 고딕" pitchFamily="34" charset="-120"/>
              </a:rPr>
              <a:t>그래서 우리 회사는 ________________ 해야 합니다.</a:t>
            </a:r>
            <a:endParaRPr lang="ko-KR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port Blue">
  <a:themeElements>
    <a:clrScheme name="Report Blue">
      <a:dk1>
        <a:srgbClr val="1D2433"/>
      </a:dk1>
      <a:lt1>
        <a:srgbClr val="FFFFFF"/>
      </a:lt1>
      <a:dk2>
        <a:srgbClr val="1F43C0"/>
      </a:dk2>
      <a:lt2>
        <a:srgbClr val="EEF2FF"/>
      </a:lt2>
      <a:accent1>
        <a:srgbClr val="2F5BEA"/>
      </a:accent1>
      <a:accent2>
        <a:srgbClr val="F97316"/>
      </a:accent2>
      <a:accent3>
        <a:srgbClr val="16A34A"/>
      </a:accent3>
      <a:accent4>
        <a:srgbClr val="FFD84D"/>
      </a:accent4>
      <a:accent5>
        <a:srgbClr val="667085"/>
      </a:accent5>
      <a:accent6>
        <a:srgbClr val="E5484D"/>
      </a:accent6>
      <a:hlink>
        <a:srgbClr val="2F5BEA"/>
      </a:hlink>
      <a:folHlink>
        <a:srgbClr val="7C3AED"/>
      </a:folHlink>
    </a:clrScheme>
    <a:fontScheme name="Report Blue">
      <a:majorFont>
        <a:latin typeface="맑은 고딕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자급제 폰 시장 보고</dc:title>
  <dc:subject>PptxGenJS Presentation</dc:subject>
  <dc:creator>PptxGenJS</dc:creator>
  <cp:lastModifiedBy>PptxGenJS</cp:lastModifiedBy>
  <cp:revision>1</cp:revision>
  <dcterms:created xsi:type="dcterms:W3CDTF">2026-10-27T00:21:57Z</dcterms:created>
  <dcterms:modified xsi:type="dcterms:W3CDTF">2026-10-27T00:21:57Z</dcterms:modified>
</cp:coreProperties>
</file>